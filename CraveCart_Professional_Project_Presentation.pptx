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640080"/>
            <a:ext cx="2011680" cy="2011680"/>
          </a:xfrm>
          <a:prstGeom prst="ellipse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286000"/>
            <a:ext cx="1417320" cy="1417320"/>
          </a:xfrm>
          <a:prstGeom prst="ellipse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3200400"/>
            <a:ext cx="1645920" cy="1645920"/>
          </a:xfrm>
          <a:prstGeom prst="ellipse">
            <a:avLst/>
          </a:prstGeom>
          <a:solidFill>
            <a:srgbClr val="2C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31520"/>
            <a:ext cx="1645920" cy="292608"/>
          </a:xfrm>
          <a:prstGeom prst="round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745236"/>
            <a:ext cx="1591056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COLLEGE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7315200" cy="9144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CraveCart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95728"/>
            <a:ext cx="7315200" cy="6400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400" b="1">
                <a:solidFill>
                  <a:srgbClr val="C2D8E2"/>
                </a:solidFill>
                <a:latin typeface="Aptos"/>
              </a:rPr>
              <a:t>Food Delivery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291840"/>
            <a:ext cx="6766560" cy="9601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Online restaurant ordering and delivery — from menu browsing to bill calculation and order tracking.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074920"/>
            <a:ext cx="73152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>
                <a:solidFill>
                  <a:srgbClr val="1FB4A3"/>
                </a:solidFill>
                <a:latin typeface="Aptos"/>
              </a:rPr>
              <a:t>JAVA 17  •  SPRING BOOT  •  JDBC  •  MYSQL  •  HTML/CSS/JS  • 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5897880"/>
            <a:ext cx="640080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B1C3CE"/>
                </a:solidFill>
                <a:latin typeface="Aptos"/>
              </a:rPr>
              <a:t>Member-wise responsibilities, implementation examples and live demo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Project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CRAVECART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64008" cy="150876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320040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3200400" cy="88696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Customers need an easy way to browse food, place orders, calculate cost and follow progress.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64008" cy="1508760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71600"/>
            <a:ext cx="320040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64792"/>
            <a:ext cx="3200400" cy="88696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Responsive menu + cart + Spring Boot REST API + MySQL persistence.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64008" cy="1508760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371600"/>
            <a:ext cx="320040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THE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764792"/>
            <a:ext cx="3200400" cy="88696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Select food → calculate bill → place order → track status.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54680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900" b="1">
                <a:solidFill>
                  <a:srgbClr val="121F30"/>
                </a:solidFill>
                <a:latin typeface="Aptos"/>
              </a:rPr>
              <a:t>Project objectives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11880"/>
            <a:ext cx="10698480" cy="22860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303D"/>
                </a:solidFill>
                <a:latin typeface="Aptos"/>
              </a:defRPr>
            </a:pPr>
            <a:r>
              <a:t>•  Apply Java OOP to customers, restaurants, menu items and orders.</a:t>
            </a:r>
          </a:p>
          <a:p>
            <a:pPr>
              <a:spcAft>
                <a:spcPts val="1000"/>
              </a:spcAft>
              <a:defRPr sz="1500">
                <a:solidFill>
                  <a:srgbClr val="23303D"/>
                </a:solidFill>
                <a:latin typeface="Aptos"/>
              </a:defRPr>
            </a:pPr>
            <a:r>
              <a:t>•  Use ArrayList, queues and search operations for menu/order handling.</a:t>
            </a:r>
          </a:p>
          <a:p>
            <a:pPr>
              <a:spcAft>
                <a:spcPts val="1000"/>
              </a:spcAft>
              <a:defRPr sz="1500">
                <a:solidFill>
                  <a:srgbClr val="23303D"/>
                </a:solidFill>
                <a:latin typeface="Aptos"/>
              </a:defRPr>
            </a:pPr>
            <a:r>
              <a:t>•  Build a frontend and REST API with GET, POST, PUT and DELETE.</a:t>
            </a:r>
          </a:p>
          <a:p>
            <a:pPr>
              <a:spcAft>
                <a:spcPts val="1000"/>
              </a:spcAft>
              <a:defRPr sz="1500">
                <a:solidFill>
                  <a:srgbClr val="23303D"/>
                </a:solidFill>
                <a:latin typeface="Aptos"/>
              </a:defRPr>
            </a:pPr>
            <a:r>
              <a:t>•  Persist data with SQL/JDBC and package the app using Docker.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Customer journey &amp; functional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CRAVECART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48640" cy="292608"/>
          </a:xfrm>
          <a:prstGeom prst="round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48156"/>
            <a:ext cx="493776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2103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64008" cy="1874519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17830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Browse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21992"/>
            <a:ext cx="1783079" cy="125272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Menu, category, price and availability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0088" y="1234440"/>
            <a:ext cx="548640" cy="292608"/>
          </a:xfrm>
          <a:prstGeom prst="round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248156"/>
            <a:ext cx="493776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2928" y="1691640"/>
            <a:ext cx="2103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52928" y="1691640"/>
            <a:ext cx="64008" cy="1874519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1828800"/>
            <a:ext cx="17830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2221992"/>
            <a:ext cx="1783079" cy="125272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Search, filter and add to cart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0096" y="1234440"/>
            <a:ext cx="548640" cy="292608"/>
          </a:xfrm>
          <a:prstGeom prst="round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7528" y="1248156"/>
            <a:ext cx="493776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02936" y="1691640"/>
            <a:ext cx="2103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02936" y="1691640"/>
            <a:ext cx="64008" cy="1874519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85816" y="1828800"/>
            <a:ext cx="17830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Checkout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816" y="2221992"/>
            <a:ext cx="1783079" cy="125272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Enter customer and delivery details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90104" y="1234440"/>
            <a:ext cx="548640" cy="292608"/>
          </a:xfrm>
          <a:prstGeom prst="round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7536" y="1248156"/>
            <a:ext cx="493776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52944" y="1691640"/>
            <a:ext cx="2103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52944" y="1691640"/>
            <a:ext cx="64008" cy="1874519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35823" y="1828800"/>
            <a:ext cx="17830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Calculate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3" y="2221992"/>
            <a:ext cx="1783079" cy="125272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Subtotal + tax + delivery fee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40112" y="1234440"/>
            <a:ext cx="548640" cy="292608"/>
          </a:xfrm>
          <a:prstGeom prst="round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67544" y="1248156"/>
            <a:ext cx="493776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02952" y="1691640"/>
            <a:ext cx="2103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02952" y="1691640"/>
            <a:ext cx="64008" cy="1874519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85832" y="1828800"/>
            <a:ext cx="17830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Track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85832" y="2221992"/>
            <a:ext cx="1783079" cy="125272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Order ID and current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160520"/>
            <a:ext cx="10789920" cy="36576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900" b="1">
                <a:solidFill>
                  <a:srgbClr val="121F30"/>
                </a:solidFill>
                <a:latin typeface="Aptos"/>
              </a:rPr>
              <a:t>Acceptance criteria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617720"/>
            <a:ext cx="10607040" cy="9601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0">
                <a:solidFill>
                  <a:srgbClr val="23303D"/>
                </a:solidFill>
                <a:latin typeface="Aptos"/>
              </a:rPr>
              <a:t>A user can select multiple food items, see an itemized total, submit an order, receive an order ID and view a status such as PLACED, PREPARING, OUT_FOR_DELIVERY or DELIVERED.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TECHNICAL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143000"/>
            <a:ext cx="1056132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143000"/>
            <a:ext cx="64008" cy="795528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1024128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PRESENTATION  |  HTML + CSS + 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73352"/>
            <a:ext cx="10241280" cy="173735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Menu • Search • Cart • Checkout •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929384"/>
            <a:ext cx="64008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700" b="1">
                <a:solidFill>
                  <a:srgbClr val="1FB4A3"/>
                </a:solidFill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258568"/>
            <a:ext cx="1056132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258568"/>
            <a:ext cx="64008" cy="795528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395727"/>
            <a:ext cx="1024128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APPLICATION  |  Spring Boot 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88920"/>
            <a:ext cx="10241280" cy="173735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Controllers • Services • Validation •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044951"/>
            <a:ext cx="64008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700" b="1">
                <a:solidFill>
                  <a:srgbClr val="1FB4A3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74136"/>
            <a:ext cx="1056132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374136"/>
            <a:ext cx="64008" cy="795528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511296"/>
            <a:ext cx="1024128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DATA ACCESS  |  JdbcTemplate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04487"/>
            <a:ext cx="10241280" cy="173735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Parameterized SQL • Repositories • Row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160520"/>
            <a:ext cx="64008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700" b="1">
                <a:solidFill>
                  <a:srgbClr val="1FB4A3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89704"/>
            <a:ext cx="1056132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489704"/>
            <a:ext cx="64008" cy="795528"/>
          </a:xfrm>
          <a:prstGeom prst="rect">
            <a:avLst/>
          </a:prstGeom>
          <a:solidFill>
            <a:srgbClr val="5C8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626864"/>
            <a:ext cx="1024128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DATABASE  |  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20056"/>
            <a:ext cx="10241280" cy="173735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customers • food_items • orders • order_items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>
                <a:solidFill>
                  <a:srgbClr val="697885"/>
                </a:solidFill>
                <a:latin typeface="Aptos"/>
              </a:rPr>
              <a:t>Docker Compose runs the application and database as separate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Four-member responsibility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CRAVECART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120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64008" cy="1572768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371600"/>
            <a:ext cx="489204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600" b="1">
                <a:solidFill>
                  <a:srgbClr val="121F30"/>
                </a:solidFill>
                <a:latin typeface="Aptos"/>
              </a:rPr>
              <a:t>Java Fundamentals &amp; 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764792"/>
            <a:ext cx="4892040" cy="950976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Domain classes • bill calculation • overloading • exceptions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2359152"/>
            <a:ext cx="1097280" cy="292608"/>
          </a:xfrm>
          <a:prstGeom prst="round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372868"/>
            <a:ext cx="1042415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MEMBER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52120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64008" cy="1572768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71600"/>
            <a:ext cx="489204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600" b="1">
                <a:solidFill>
                  <a:srgbClr val="121F30"/>
                </a:solidFill>
                <a:latin typeface="Aptos"/>
              </a:rPr>
              <a:t>Collections &amp; Data Structures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64792"/>
            <a:ext cx="4892040" cy="950976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ArrayList menu • FIFO queue • name/category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359152"/>
            <a:ext cx="1097280" cy="292608"/>
          </a:xfrm>
          <a:prstGeom prst="round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372868"/>
            <a:ext cx="1042415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MEMBER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40"/>
            <a:ext cx="52120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91840"/>
            <a:ext cx="64008" cy="1572768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429000"/>
            <a:ext cx="489204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600" b="1">
                <a:solidFill>
                  <a:srgbClr val="121F30"/>
                </a:solidFill>
                <a:latin typeface="Aptos"/>
              </a:rPr>
              <a:t>HTML, CSS &amp; Spring Boot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822191"/>
            <a:ext cx="4892040" cy="950976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Responsive UI • REST APIs • GET/POST/PUT/DELETE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" y="4416552"/>
            <a:ext cx="1097280" cy="292608"/>
          </a:xfrm>
          <a:prstGeom prst="round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430268"/>
            <a:ext cx="1042415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MEMBER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291840"/>
            <a:ext cx="52120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291840"/>
            <a:ext cx="64008" cy="1572768"/>
          </a:xfrm>
          <a:prstGeom prst="rect">
            <a:avLst/>
          </a:prstGeom>
          <a:solidFill>
            <a:srgbClr val="5C8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429000"/>
            <a:ext cx="489204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600" b="1">
                <a:solidFill>
                  <a:srgbClr val="121F30"/>
                </a:solidFill>
                <a:latin typeface="Aptos"/>
              </a:rPr>
              <a:t>SQL, JDBC &amp; DevOps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822191"/>
            <a:ext cx="4892040" cy="950976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Schema • persistence • status • Git/Maven/testing/Docker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416552"/>
            <a:ext cx="1097280" cy="292608"/>
          </a:xfrm>
          <a:prstGeom prst="roundRect">
            <a:avLst/>
          </a:prstGeom>
          <a:solidFill>
            <a:srgbClr val="5C8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4430268"/>
            <a:ext cx="1042415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MEMBER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77840"/>
            <a:ext cx="10607040" cy="4114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>
                <a:solidFill>
                  <a:srgbClr val="697885"/>
                </a:solidFill>
                <a:latin typeface="Aptos"/>
              </a:rPr>
              <a:t>Integration rule: agree on class names, API routes, JSON fields and SQL columns before parallel implementation.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Member 1 | Java fundamentals &amp; 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MEMBER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892040" cy="45262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 Create Customer, Restaurant, FoodItem and Order classes.</a:t>
            </a:r>
          </a:p>
          <a:p>
            <a:pPr>
              <a:spcAft>
                <a:spcPts val="10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 Use private fields and constructors to encapsulate state.</a:t>
            </a:r>
          </a:p>
          <a:p>
            <a:pPr>
              <a:spcAft>
                <a:spcPts val="10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 Calculate subtotal, tax, delivery fee and final total.</a:t>
            </a:r>
          </a:p>
          <a:p>
            <a:pPr>
              <a:spcAft>
                <a:spcPts val="10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 Demonstrate method overloading for flexible bill calculation.</a:t>
            </a:r>
          </a:p>
          <a:p>
            <a:pPr>
              <a:spcAft>
                <a:spcPts val="10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 Throw exceptions for invalid price, quantity or empty checkout.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188720"/>
            <a:ext cx="56692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1">
                <a:solidFill>
                  <a:srgbClr val="1FB4A3"/>
                </a:solidFill>
                <a:latin typeface="Aptos"/>
              </a:rPr>
              <a:t>JAVA: FOOD ITEM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417320"/>
            <a:ext cx="5669280" cy="4160520"/>
          </a:xfrm>
          <a:prstGeom prst="roundRect">
            <a:avLst/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73152" tIns="109728"/>
          <a:lstStyle/>
          <a:p>
            <a:pPr algn="ctr"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public class FoodItem {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private final int id;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private final String name;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private final String category;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private final double price;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public FoodItem(int id, String name,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                String category, double price) {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    if (price &lt; 0)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        throw new IllegalArgumentException(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            "Price cannot be negative");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    this.id = id;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    this.name = name;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    this.category = category;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    this.price = price;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public String getName() { return name; }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  public double getPrice() { return price; }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576072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1">
                <a:solidFill>
                  <a:srgbClr val="FFA05A"/>
                </a:solidFill>
                <a:latin typeface="Aptos"/>
              </a:rPr>
              <a:t>Production note: use BigDecimal for money.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Member 1 | Bill calculation, overloading &amp; 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MEMBER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65836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1">
                <a:solidFill>
                  <a:srgbClr val="1FB4A3"/>
                </a:solidFill>
                <a:latin typeface="Aptos"/>
              </a:rPr>
              <a:t>JAVA: OVERLOADED BILL 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6583680" cy="4434840"/>
          </a:xfrm>
          <a:prstGeom prst="roundRect">
            <a:avLst/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73152" tIns="109728"/>
          <a:lstStyle/>
          <a:p>
            <a:pPr algn="ctr"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public class BillCalculator {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private static final double TAX_RATE = 0.05;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private static final double DELIVERY_FEE = 40.00;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public double calculate(double subtotal) {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    return calculate(subtotal, DELIVERY_FEE);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public double calculate(double subtotal,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                        double deliveryFee) {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    if (subtotal &lt; 0 || deliveryFee &lt; 0)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        throw new IllegalArgumentException(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            "Amounts cannot be negative");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    double tax = subtotal * TAX_RATE;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    return subtotal + tax + deliveryFee;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417320"/>
            <a:ext cx="3794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417320"/>
            <a:ext cx="64008" cy="114300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554480"/>
            <a:ext cx="347472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SAMPLE BILL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47672"/>
            <a:ext cx="3474720" cy="5212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Subtotal: ₹500
Tax (5%): ₹25
Delivery: ₹40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788920"/>
            <a:ext cx="3794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2788920"/>
            <a:ext cx="64008" cy="1051560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926079"/>
            <a:ext cx="347472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GRAND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319272"/>
            <a:ext cx="3474720" cy="42976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0">
                <a:solidFill>
                  <a:srgbClr val="23303D"/>
                </a:solidFill>
                <a:latin typeface="Aptos"/>
              </a:rPr>
              <a:t>₹500 + ₹25 + ₹40 = ₹565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069080"/>
            <a:ext cx="3794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4069080"/>
            <a:ext cx="64008" cy="1325880"/>
          </a:xfrm>
          <a:prstGeom prst="rect">
            <a:avLst/>
          </a:prstGeom>
          <a:solidFill>
            <a:srgbClr val="D5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206240"/>
            <a:ext cx="347472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EXCEPTION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599432"/>
            <a:ext cx="3474720" cy="70408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Validate amounts, quantities, customer details and empty carts before order creation.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1069848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697885"/>
                </a:solidFill>
                <a:latin typeface="Aptos"/>
              </a:rPr>
              <a:t>Teaching example uses double; use BigDecimal with consistent rounding for real currency.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Member 2 | Collections &amp;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MEMBER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64008" cy="123444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325880"/>
            <a:ext cx="31546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ArrayList&lt;FoodItem&gt;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719072"/>
            <a:ext cx="3154679" cy="61264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Resizable list for storing and iterating over menu items.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1887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188720"/>
            <a:ext cx="64008" cy="1234440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25880"/>
            <a:ext cx="31546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Queue&lt;Order&gt;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719072"/>
            <a:ext cx="3154679" cy="61264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First-in, first-out order processing.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1887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188720"/>
            <a:ext cx="64008" cy="1234440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1325880"/>
            <a:ext cx="31546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1719072"/>
            <a:ext cx="3154679" cy="61264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Find items by name and category.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560320"/>
            <a:ext cx="690372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1">
                <a:solidFill>
                  <a:srgbClr val="1FB4A3"/>
                </a:solidFill>
                <a:latin typeface="Aptos"/>
              </a:rPr>
              <a:t>JAVA: MENU STORAGE AND 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88920"/>
            <a:ext cx="6903720" cy="3246120"/>
          </a:xfrm>
          <a:prstGeom prst="roundRect">
            <a:avLst/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73152" tIns="109728"/>
          <a:lstStyle/>
          <a:p>
            <a:pPr algn="ctr"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import java.util.*;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import java.util.stream.Collectors;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public class MenuService {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private final List&lt;FoodItem&gt; menu = new ArrayList&lt;&gt;();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public void add(FoodItem item) { menu.add(item); }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public List&lt;FoodItem&gt; searchByName(String query) {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String q = query.toLowerCase();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return menu.stream()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    .filter(f -&gt; f.getName().toLowerCase().contains(q))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    .collect(Collectors.toList());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public List&lt;FoodItem&gt; searchByCategory(String category) {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return menu.stream()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    .filter(f -&gt; f.getCategory().equalsIgnoreCase(category))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    .collect(Collectors.toList());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926080"/>
            <a:ext cx="365760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1">
                <a:solidFill>
                  <a:srgbClr val="1FB4A3"/>
                </a:solidFill>
                <a:latin typeface="Aptos"/>
              </a:rPr>
              <a:t>FIFO QUEUE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3154680"/>
            <a:ext cx="3657600" cy="1325880"/>
          </a:xfrm>
          <a:prstGeom prst="roundRect">
            <a:avLst/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73152" tIns="109728"/>
          <a:lstStyle/>
          <a:p>
            <a:pPr algn="ctr"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Queue&lt;Order&gt; incoming = new ArrayDeque&lt;&gt;();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incoming.offer(order);        // enqueue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Order next = incoming.poll(); // dequeue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709160"/>
            <a:ext cx="3474720" cy="9601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697885"/>
                </a:solidFill>
                <a:latin typeface="Aptos"/>
              </a:rPr>
              <a:t>ArrayDeque operations are typically O(1). In-memory collections reset after restart; persistent orders belong in MySQL.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Member 2 | Workflow &amp;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MEMBER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188720" cy="292608"/>
          </a:xfrm>
          <a:prstGeom prst="round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48156"/>
            <a:ext cx="1133856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252728"/>
            <a:ext cx="347472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menu.add(foodItem)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39112"/>
            <a:ext cx="1188720" cy="292608"/>
          </a:xfrm>
          <a:prstGeom prst="round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52828"/>
            <a:ext cx="1133856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057400"/>
            <a:ext cx="347472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Filter by name/category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843784"/>
            <a:ext cx="1188720" cy="292608"/>
          </a:xfrm>
          <a:prstGeom prst="round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857500"/>
            <a:ext cx="1133856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862072"/>
            <a:ext cx="347472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queue.offer(order)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48456"/>
            <a:ext cx="1188720" cy="292608"/>
          </a:xfrm>
          <a:prstGeom prst="round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662172"/>
            <a:ext cx="1133856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666744"/>
            <a:ext cx="347472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queue.poll()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53128"/>
            <a:ext cx="1188720" cy="292608"/>
          </a:xfrm>
          <a:prstGeom prst="round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466844"/>
            <a:ext cx="1133856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471416"/>
            <a:ext cx="347472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PREPARING → DISPATCHED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371600"/>
            <a:ext cx="64008" cy="114300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508760"/>
            <a:ext cx="475488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ArrayList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901952"/>
            <a:ext cx="4754880" cy="5212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Append is amortized O(1); linear search is O(n).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7432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743200"/>
            <a:ext cx="64008" cy="1143000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880360"/>
            <a:ext cx="475488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Queue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73552"/>
            <a:ext cx="4754880" cy="5212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FIFO preserves arrival order for processing.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1148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114800"/>
            <a:ext cx="64008" cy="1143000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251960"/>
            <a:ext cx="475488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Design boundary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645152"/>
            <a:ext cx="4754880" cy="5212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Collections demonstrate data structures; JDBC/SQL handles durable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Member 3 | Frontend: menu, cart &amp;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MEMBER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800600" cy="43891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 Responsive menu cards with image, name, category, price and availability.</a:t>
            </a:r>
          </a:p>
          <a:p>
            <a:pPr>
              <a:spcAft>
                <a:spcPts val="10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 Search input and category filter.</a:t>
            </a:r>
          </a:p>
          <a:p>
            <a:pPr>
              <a:spcAft>
                <a:spcPts val="10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 Cart quantity controls and running subtotal.</a:t>
            </a:r>
          </a:p>
          <a:p>
            <a:pPr>
              <a:spcAft>
                <a:spcPts val="10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 Checkout form for customer and delivery details.</a:t>
            </a:r>
          </a:p>
          <a:p>
            <a:pPr>
              <a:spcAft>
                <a:spcPts val="10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 Order confirmation and tracking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097280"/>
            <a:ext cx="571500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1">
                <a:solidFill>
                  <a:srgbClr val="1FB4A3"/>
                </a:solidFill>
                <a:latin typeface="Aptos"/>
              </a:rPr>
              <a:t>HTML: SEMANTIC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325880"/>
            <a:ext cx="5715000" cy="2514600"/>
          </a:xfrm>
          <a:prstGeom prst="roundRect">
            <a:avLst/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73152" tIns="109728"/>
          <a:lstStyle/>
          <a:p>
            <a:pPr algn="ctr"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&lt;section class="menu-grid" id="menuGrid"&gt;&lt;/section&gt;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&lt;form id="checkoutForm"&gt;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&lt;label for="customerName"&gt;Your name&lt;/label&gt;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&lt;input id="customerName" required /&gt;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&lt;label for="address"&gt;Delivery address&lt;/label&gt;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&lt;textarea id="address" required&gt;&lt;/textarea&gt;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&lt;button type="submit"&gt;Place order&lt;/button&gt;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&lt;/form&gt;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4023360"/>
            <a:ext cx="571500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1">
                <a:solidFill>
                  <a:srgbClr val="1FB4A3"/>
                </a:solidFill>
                <a:latin typeface="Aptos"/>
              </a:rPr>
              <a:t>CSS: FOOD 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4251960"/>
            <a:ext cx="5715000" cy="1554480"/>
          </a:xfrm>
          <a:prstGeom prst="roundRect">
            <a:avLst/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73152" tIns="109728"/>
          <a:lstStyle/>
          <a:p>
            <a:pPr algn="ctr"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.food-card {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background: #fff;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border-radius: 16px;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overflow: hidden;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box-shadow: 0 8px 24px #14203014;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.food-card img { width:100%; height:190px; object-fit:cover;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Member 3 | JavaScript: load menu &amp; cart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MEMBER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690372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1">
                <a:solidFill>
                  <a:srgbClr val="1FB4A3"/>
                </a:solidFill>
                <a:latin typeface="Aptos"/>
              </a:rPr>
              <a:t>JAVASCRIPT: FETCH + CART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6903720" cy="4983480"/>
          </a:xfrm>
          <a:prstGeom prst="roundRect">
            <a:avLst/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73152" tIns="109728"/>
          <a:lstStyle/>
          <a:p>
            <a:pPr algn="ctr"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const cart = new Map();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async function loadMenu() {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const response = await fetch("/api/foods");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if (!response.ok) throw new Error("Could not load menu");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const foods = await response.json();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renderMenu(foods);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function addToCart(food) {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const current = cart.get(food.id) || { food, quantity: 0 };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current.quantity += 1;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cart.set(food.id, current);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renderCart();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function cartSubtotal() {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let total = 0;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for (const { food, quantity } of cart.values())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total += food.price * quantity;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return total;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loadMenu().catch(err =&gt; console.error(err));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41732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417320"/>
            <a:ext cx="64008" cy="114300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554480"/>
            <a:ext cx="324612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Fetch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947672"/>
            <a:ext cx="3246120" cy="5212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Loads menu data asynchronously from the backend.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78892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2788920"/>
            <a:ext cx="64008" cy="1143000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926079"/>
            <a:ext cx="324612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319272"/>
            <a:ext cx="3246120" cy="5212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Stores cart lines keyed by food 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4160520"/>
            <a:ext cx="3566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4160520"/>
            <a:ext cx="64008" cy="1325880"/>
          </a:xfrm>
          <a:prstGeom prst="rect">
            <a:avLst/>
          </a:prstGeom>
          <a:solidFill>
            <a:srgbClr val="D5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4297680"/>
            <a:ext cx="324612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Error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690872"/>
            <a:ext cx="3246120" cy="70408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Show a helpful message if the API or network fails.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Member 3 | REST API: GET, POST, PUT,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MEMBER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80160"/>
          <a:ext cx="10835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3931920"/>
                <a:gridCol w="5760720"/>
              </a:tblGrid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21F3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/api/foods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List menu 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/api/foods?category=Pizza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Filter menu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/api/orders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Place a new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/api/orders/{id}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Track an order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/api/orders/{id}/status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Update order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/api/orders/{id}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Delete/cancel only if supported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97880"/>
            <a:ext cx="10515600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697885"/>
                </a:solidFill>
                <a:latin typeface="Aptos"/>
              </a:rPr>
              <a:t>POST creates; GET reads; PUT updates; DELETE removes only when cancellation/deletion is part of the requirements.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Member 3 | Spring Boot controller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MEMBER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7498079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1">
                <a:solidFill>
                  <a:srgbClr val="1FB4A3"/>
                </a:solidFill>
                <a:latin typeface="Aptos"/>
              </a:rPr>
              <a:t>JAVA: REST CONTROLLER (ILLUSTRATIVE)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7498079" cy="5074920"/>
          </a:xfrm>
          <a:prstGeom prst="roundRect">
            <a:avLst/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73152" tIns="109728"/>
          <a:lstStyle/>
          <a:p>
            <a:pPr algn="ctr"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@RestController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@RequestMapping("/api/orders")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public class OrderController {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private final OrderService orderService;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public OrderController(OrderService orderService) {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this.orderService = orderService;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@PostMapping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public ResponseEntity&lt;OrderResponse&gt; place(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    @RequestBody CreateOrderRequest request) {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OrderResponse created = orderService.placeOrder(request);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return ResponseEntity.status(HttpStatus.CREATED).body(created);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@GetMapping("/{id}")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public OrderResponse track(@PathVariable long id) {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return orderService.findById(id);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@PutMapping("/{id}/status")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public OrderResponse updateStatus(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    @PathVariable long id,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    @RequestBody UpdateStatusRequest request) {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    return orderService.updateStatus(id, request.status());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950">
                <a:solidFill>
                  <a:srgbClr val="D2E4E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4173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1417320"/>
            <a:ext cx="64008" cy="114300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59" y="1554480"/>
            <a:ext cx="265176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1947672"/>
            <a:ext cx="2651760" cy="5212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Maps HTTP routes to methods.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7889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2788920"/>
            <a:ext cx="64008" cy="1143000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59" y="2926079"/>
            <a:ext cx="265176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3319272"/>
            <a:ext cx="2651760" cy="5212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Validates business rules and checkout.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41605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4160520"/>
            <a:ext cx="64008" cy="1143000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59" y="4297680"/>
            <a:ext cx="265176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59" y="4690872"/>
            <a:ext cx="2651760" cy="5212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Executes SQL with JdbcTemplate.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Member 4 | SQL schema &amp;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MEMBER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649224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1">
                <a:solidFill>
                  <a:srgbClr val="1FB4A3"/>
                </a:solidFill>
                <a:latin typeface="Aptos"/>
              </a:rPr>
              <a:t>MYSQL: CORE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6492240" cy="5074920"/>
          </a:xfrm>
          <a:prstGeom prst="roundRect">
            <a:avLst/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73152" tIns="109728"/>
          <a:lstStyle/>
          <a:p>
            <a:pPr algn="ctr"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CREATE TABLE customers (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id BIGINT PRIMARY KEY AUTO_INCREMENT,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name VARCHAR(100) NOT NULL,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phone VARCHAR(20),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address VARCHAR(255) NOT NULL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CREATE TABLE food_items (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id BIGINT PRIMARY KEY AUTO_INCREMENT,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name VARCHAR(120) NOT NULL,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category VARCHAR(60) NOT NULL,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price DECIMAL(10,2) NOT NULL,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available BOOLEAN NOT NULL DEFAULT TRUE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CREATE TABLE orders (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id BIGINT PRIMARY KEY AUTO_INCREMENT,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customer_id BIGINT NOT NULL,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total_amount DECIMAL(10,2) NOT NULL,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status VARCHAR(30) NOT NULL DEFAULT 'PLACED',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created_at TIMESTAMP DEFAULT CURRENT_TIMESTAMP,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  FOREIGN KEY (customer_id) REFERENCES customers(id)</a:t>
            </a:r>
          </a:p>
          <a:p>
            <a:pPr>
              <a:spcAft>
                <a:spcPts val="0"/>
              </a:spcAft>
              <a:defRPr sz="1000">
                <a:solidFill>
                  <a:srgbClr val="D2E4EB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371600"/>
            <a:ext cx="4023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1371600"/>
            <a:ext cx="64008" cy="105156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508760"/>
            <a:ext cx="370332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01952"/>
            <a:ext cx="3703320" cy="42976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One customer can place many 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2651760"/>
            <a:ext cx="4023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920" y="2651760"/>
            <a:ext cx="64008" cy="1051560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788920"/>
            <a:ext cx="370332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food_items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182112"/>
            <a:ext cx="3703320" cy="42976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Stores menu price and availability.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931920"/>
            <a:ext cx="4023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3931920"/>
            <a:ext cx="64008" cy="1051560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4069080"/>
            <a:ext cx="370332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462272"/>
            <a:ext cx="3703320" cy="42976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Stores customer reference, total and status.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5303520"/>
            <a:ext cx="3840480" cy="6858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697885"/>
                </a:solidFill>
                <a:latin typeface="Aptos"/>
              </a:rPr>
              <a:t>Recommended extension: order_items(order_id, food_item_id, quantity, unit_price).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Member 4 | JDBC with Spring JdbcTemplate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MEMBER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740664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1">
                <a:solidFill>
                  <a:srgbClr val="1FB4A3"/>
                </a:solidFill>
                <a:latin typeface="Aptos"/>
              </a:rPr>
              <a:t>JAVA: REPOSITORY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7406640" cy="5074920"/>
          </a:xfrm>
          <a:prstGeom prst="roundRect">
            <a:avLst/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73152" tIns="109728"/>
          <a:lstStyle/>
          <a:p>
            <a:pPr algn="ctr"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@Repository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public class FoodRepository {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private final JdbcTemplate jdbc;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public FoodRepository(JdbcTemplate jdbc) {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this.jdbc = jdbc;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public List&lt;FoodItem&gt; findAll() {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String sql = """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    SELECT id, name, category, price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    FROM food_items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    WHERE available = TRUE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    ORDER BY name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    """;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return jdbc.query(sql, (rs, rowNum) -&gt;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    new FoodItem(rs.getInt("id"),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        rs.getString("name"),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        rs.getString("category"),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        rs.getBigDecimal("price").doubleValue()));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public int updateStatus(long id, String status) {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return jdbc.update(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    "UPDATE orders SET status=? WHERE id=?",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        status, id);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969">
                <a:solidFill>
                  <a:srgbClr val="D2E4E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41732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75320" y="1417320"/>
            <a:ext cx="64008" cy="114300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554480"/>
            <a:ext cx="278892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JdbcTemplate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947672"/>
            <a:ext cx="2788920" cy="5212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Runs SQL and maps result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78892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2788920"/>
            <a:ext cx="64008" cy="1143000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926079"/>
            <a:ext cx="278892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Parameterized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319272"/>
            <a:ext cx="2788920" cy="5212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? placeholders help prevent SQL injection.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416052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4160520"/>
            <a:ext cx="64008" cy="1143000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4297680"/>
            <a:ext cx="278892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No JPA/Hibernate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690872"/>
            <a:ext cx="2788920" cy="5212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Uses direct SQL through JDBC.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Member 4 | Order persistence &amp; status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MEMBER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64008" cy="141732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39"/>
            <a:ext cx="17830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>
                <a:solidFill>
                  <a:srgbClr val="121F30"/>
                </a:solidFill>
                <a:latin typeface="Aptos"/>
              </a:rPr>
              <a:t>PLACED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56231"/>
            <a:ext cx="1783079" cy="7955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Order saved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874519"/>
            <a:ext cx="2743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500" b="1">
                <a:solidFill>
                  <a:srgbClr val="1FB4A3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32588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07208" y="1325880"/>
            <a:ext cx="64008" cy="1417320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1463039"/>
            <a:ext cx="17830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>
                <a:solidFill>
                  <a:srgbClr val="121F30"/>
                </a:solidFill>
                <a:latin typeface="Aptos"/>
              </a:rPr>
              <a:t>CONFIRMED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1856231"/>
            <a:ext cx="1783079" cy="7955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Restaurant accepts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874519"/>
            <a:ext cx="2743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500" b="1">
                <a:solidFill>
                  <a:srgbClr val="1FB4A3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132588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7216" y="1325880"/>
            <a:ext cx="64008" cy="1417320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0096" y="1463039"/>
            <a:ext cx="17830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>
                <a:solidFill>
                  <a:srgbClr val="121F30"/>
                </a:solidFill>
                <a:latin typeface="Aptos"/>
              </a:rPr>
              <a:t>PREPARING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1856231"/>
            <a:ext cx="1783079" cy="7955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Food is prepared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1874519"/>
            <a:ext cx="2743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500" b="1">
                <a:solidFill>
                  <a:srgbClr val="1FB4A3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07223" y="132588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07223" y="1325880"/>
            <a:ext cx="64008" cy="141732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0103" y="1463039"/>
            <a:ext cx="17830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>
                <a:solidFill>
                  <a:srgbClr val="121F30"/>
                </a:solidFill>
                <a:latin typeface="Aptos"/>
              </a:rPr>
              <a:t>OUT FOR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0103" y="1856231"/>
            <a:ext cx="1783079" cy="7955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Courier has 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2055" y="1874519"/>
            <a:ext cx="2743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500" b="1">
                <a:solidFill>
                  <a:srgbClr val="1FB4A3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57232" y="132588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57232" y="1325880"/>
            <a:ext cx="64008" cy="1417320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0111" y="1463039"/>
            <a:ext cx="17830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>
                <a:solidFill>
                  <a:srgbClr val="121F30"/>
                </a:solidFill>
                <a:latin typeface="Aptos"/>
              </a:rPr>
              <a:t>DELIVERED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11" y="1856231"/>
            <a:ext cx="1783079" cy="7955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Order completed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108960"/>
            <a:ext cx="65836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1">
                <a:solidFill>
                  <a:srgbClr val="1FB4A3"/>
                </a:solidFill>
                <a:latin typeface="Aptos"/>
              </a:rPr>
              <a:t>STATUS UPDATE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337560"/>
            <a:ext cx="6583680" cy="1828800"/>
          </a:xfrm>
          <a:prstGeom prst="roundRect">
            <a:avLst/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73152" tIns="109728"/>
          <a:lstStyle/>
          <a:p>
            <a:pPr algn="ctr"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int changed = jdbc.update(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"UPDATE orders SET status = ? WHERE id = ?",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newStatus, orderId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if (changed == 0)</a:t>
            </a:r>
          </a:p>
          <a:p>
            <a:pPr>
              <a:spcAft>
                <a:spcPts val="0"/>
              </a:spcAft>
              <a:defRPr sz="1100">
                <a:solidFill>
                  <a:srgbClr val="D2E4EB"/>
                </a:solidFill>
                <a:latin typeface="Consolas"/>
              </a:defRPr>
            </a:pPr>
            <a:r>
              <a:t>    throw new IllegalArgumentException("Order not found");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3429000"/>
            <a:ext cx="3840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89520" y="3429000"/>
            <a:ext cx="64008" cy="1600200"/>
          </a:xfrm>
          <a:prstGeom prst="rect">
            <a:avLst/>
          </a:prstGeom>
          <a:solidFill>
            <a:srgbClr val="D5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3566160"/>
            <a:ext cx="352044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Important safeguards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959352"/>
            <a:ext cx="3520440" cy="9784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Validate status transitions. Recalculate totals on the server; do not trust totals sent by the browser.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697885"/>
                </a:solidFill>
                <a:latin typeface="Aptos"/>
              </a:rPr>
              <a:t>Persist item IDs, quantities and unit prices in order_items for complete order history.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Member 4 | Git, Maven, testing &amp;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MEMBER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2697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64008" cy="141732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237744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600" b="1">
                <a:solidFill>
                  <a:srgbClr val="121F30"/>
                </a:solidFill>
                <a:latin typeface="Aptos"/>
              </a:rPr>
              <a:t>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19072"/>
            <a:ext cx="2377440" cy="7955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Version history, branches and team collaboration.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188720"/>
            <a:ext cx="2697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188720"/>
            <a:ext cx="64008" cy="1417320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325880"/>
            <a:ext cx="237744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600" b="1">
                <a:solidFill>
                  <a:srgbClr val="121F30"/>
                </a:solidFill>
                <a:latin typeface="Aptos"/>
              </a:rPr>
              <a:t>MAVEN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719072"/>
            <a:ext cx="2377440" cy="7955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Dependencies, build and test lifecycle in pom.xml.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188720"/>
            <a:ext cx="2697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188720"/>
            <a:ext cx="64008" cy="1417320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325880"/>
            <a:ext cx="237744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600" b="1">
                <a:solidFill>
                  <a:srgbClr val="121F30"/>
                </a:solidFill>
                <a:latin typeface="Aptos"/>
              </a:rPr>
              <a:t>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719072"/>
            <a:ext cx="2377440" cy="7955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Unit, API and database integration tests.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18872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188720"/>
            <a:ext cx="64008" cy="1417320"/>
          </a:xfrm>
          <a:prstGeom prst="rect">
            <a:avLst/>
          </a:prstGeom>
          <a:solidFill>
            <a:srgbClr val="5C8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19" y="1325880"/>
            <a:ext cx="205740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600" b="1">
                <a:solidFill>
                  <a:srgbClr val="121F30"/>
                </a:solidFill>
                <a:latin typeface="Aptos"/>
              </a:rPr>
              <a:t>DOCKER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1719072"/>
            <a:ext cx="2057400" cy="7955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23303D"/>
                </a:solidFill>
                <a:latin typeface="Aptos"/>
              </a:rPr>
              <a:t>Repeatable app + database environment.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926080"/>
            <a:ext cx="516636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1">
                <a:solidFill>
                  <a:srgbClr val="1FB4A3"/>
                </a:solidFill>
                <a:latin typeface="Aptos"/>
              </a:rPr>
              <a:t>COMMON COMMANDS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154680"/>
            <a:ext cx="5166360" cy="2331720"/>
          </a:xfrm>
          <a:prstGeom prst="roundRect">
            <a:avLst/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73152" tIns="109728"/>
          <a:lstStyle/>
          <a:p>
            <a:pPr algn="ctr">
              <a:spcAft>
                <a:spcPts val="0"/>
              </a:spcAft>
              <a:defRPr sz="1200">
                <a:solidFill>
                  <a:srgbClr val="D2E4EB"/>
                </a:solidFill>
                <a:latin typeface="Consolas"/>
              </a:defRPr>
            </a:pPr>
            <a:r>
              <a:t># Start app and MySQL</a:t>
            </a:r>
          </a:p>
          <a:p>
            <a:pPr>
              <a:spcAft>
                <a:spcPts val="0"/>
              </a:spcAft>
              <a:defRPr sz="1200">
                <a:solidFill>
                  <a:srgbClr val="D2E4EB"/>
                </a:solidFill>
                <a:latin typeface="Consolas"/>
              </a:defRPr>
            </a:pPr>
            <a:r>
              <a:t>docker compose up --build</a:t>
            </a:r>
          </a:p>
          <a:p>
            <a:pPr>
              <a:spcAft>
                <a:spcPts val="0"/>
              </a:spcAft>
              <a:defRPr sz="120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D2E4EB"/>
                </a:solidFill>
                <a:latin typeface="Consolas"/>
              </a:defRPr>
            </a:pPr>
            <a:r>
              <a:t># Stop services</a:t>
            </a:r>
          </a:p>
          <a:p>
            <a:pPr>
              <a:spcAft>
                <a:spcPts val="0"/>
              </a:spcAft>
              <a:defRPr sz="1200">
                <a:solidFill>
                  <a:srgbClr val="D2E4EB"/>
                </a:solidFill>
                <a:latin typeface="Consolas"/>
              </a:defRPr>
            </a:pPr>
            <a:r>
              <a:t>docker compose down</a:t>
            </a:r>
          </a:p>
          <a:p>
            <a:pPr>
              <a:spcAft>
                <a:spcPts val="0"/>
              </a:spcAft>
              <a:defRPr sz="1200">
                <a:solidFill>
                  <a:srgbClr val="D2E4E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D2E4EB"/>
                </a:solidFill>
                <a:latin typeface="Consolas"/>
              </a:defRPr>
            </a:pPr>
            <a:r>
              <a:t># Run tests/build</a:t>
            </a:r>
          </a:p>
          <a:p>
            <a:pPr>
              <a:spcAft>
                <a:spcPts val="0"/>
              </a:spcAft>
              <a:defRPr sz="1200">
                <a:solidFill>
                  <a:srgbClr val="D2E4EB"/>
                </a:solidFill>
                <a:latin typeface="Consolas"/>
              </a:defRPr>
            </a:pPr>
            <a:r>
              <a:t>mvn clean test</a:t>
            </a:r>
          </a:p>
          <a:p>
            <a:pPr>
              <a:spcAft>
                <a:spcPts val="0"/>
              </a:spcAft>
              <a:defRPr sz="1200">
                <a:solidFill>
                  <a:srgbClr val="D2E4EB"/>
                </a:solidFill>
                <a:latin typeface="Consolas"/>
              </a:defRPr>
            </a:pPr>
            <a:r>
              <a:t>mvn spring-boot:run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154680"/>
            <a:ext cx="493776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700" b="1">
                <a:solidFill>
                  <a:srgbClr val="121F30"/>
                </a:solidFill>
                <a:latin typeface="Aptos"/>
              </a:rPr>
              <a:t>Environment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566160"/>
            <a:ext cx="4983480" cy="21945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3303D"/>
                </a:solidFill>
                <a:latin typeface="Aptos"/>
              </a:defRPr>
            </a:pPr>
            <a:r>
              <a:t>•  Java 17 and Maven (or Maven Wrapper).</a:t>
            </a:r>
          </a:p>
          <a:p>
            <a:pPr>
              <a:spcAft>
                <a:spcPts val="1000"/>
              </a:spcAft>
              <a:defRPr sz="1200">
                <a:solidFill>
                  <a:srgbClr val="23303D"/>
                </a:solidFill>
                <a:latin typeface="Aptos"/>
              </a:defRPr>
            </a:pPr>
            <a:r>
              <a:t>•  Docker Desktop is running.</a:t>
            </a:r>
          </a:p>
          <a:p>
            <a:pPr>
              <a:spcAft>
                <a:spcPts val="1000"/>
              </a:spcAft>
              <a:defRPr sz="1200">
                <a:solidFill>
                  <a:srgbClr val="23303D"/>
                </a:solidFill>
                <a:latin typeface="Aptos"/>
              </a:defRPr>
            </a:pPr>
            <a:r>
              <a:t>•  Run Compose where compose.yaml exists.</a:t>
            </a:r>
          </a:p>
          <a:p>
            <a:pPr>
              <a:spcAft>
                <a:spcPts val="1000"/>
              </a:spcAft>
              <a:defRPr sz="1200">
                <a:solidFill>
                  <a:srgbClr val="23303D"/>
                </a:solidFill>
                <a:latin typeface="Aptos"/>
              </a:defRPr>
            </a:pPr>
            <a:r>
              <a:t>•  Open http://localhost:8080 when ready.</a:t>
            </a:r>
          </a:p>
          <a:p>
            <a:pPr>
              <a:spcAft>
                <a:spcPts val="1000"/>
              </a:spcAft>
              <a:defRPr sz="1200">
                <a:solidFill>
                  <a:srgbClr val="23303D"/>
                </a:solidFill>
                <a:latin typeface="Aptos"/>
              </a:defRPr>
            </a:pPr>
            <a:r>
              <a:t>•  Use environment variables for deployed secrets.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End-to-end request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TECHNICAL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700784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64008" cy="182880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380744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>
                <a:solidFill>
                  <a:srgbClr val="121F30"/>
                </a:solidFill>
                <a:latin typeface="Aptos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59152"/>
            <a:ext cx="1380744" cy="12070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GET /api/foods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468880"/>
            <a:ext cx="22860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2000" b="1">
                <a:solidFill>
                  <a:srgbClr val="1FB4A3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14016" y="1828800"/>
            <a:ext cx="1700784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14016" y="1828800"/>
            <a:ext cx="64008" cy="1828800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6896" y="1965960"/>
            <a:ext cx="1380744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>
                <a:solidFill>
                  <a:srgbClr val="121F30"/>
                </a:solidFill>
                <a:latin typeface="Aptos"/>
              </a:rPr>
              <a:t>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359152"/>
            <a:ext cx="1380744" cy="12070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Route + input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2468880"/>
            <a:ext cx="22860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2000" b="1">
                <a:solidFill>
                  <a:srgbClr val="1FB4A3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1828800"/>
            <a:ext cx="1700784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1828800"/>
            <a:ext cx="64008" cy="1828800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1965960"/>
            <a:ext cx="1380744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>
                <a:solidFill>
                  <a:srgbClr val="121F30"/>
                </a:solidFill>
                <a:latin typeface="Aptos"/>
              </a:rPr>
              <a:t>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359152"/>
            <a:ext cx="1380744" cy="12070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Business rules + totals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468880"/>
            <a:ext cx="22860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2000" b="1">
                <a:solidFill>
                  <a:srgbClr val="1FB4A3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1828800"/>
            <a:ext cx="1700784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7648" y="1828800"/>
            <a:ext cx="64008" cy="182880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1965960"/>
            <a:ext cx="1380744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>
                <a:solidFill>
                  <a:srgbClr val="121F30"/>
                </a:solidFill>
                <a:latin typeface="Aptos"/>
              </a:rPr>
              <a:t>Repository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359152"/>
            <a:ext cx="1380744" cy="12070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JdbcTemplate + 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1856" y="2468880"/>
            <a:ext cx="22860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2000" b="1">
                <a:solidFill>
                  <a:srgbClr val="1FB4A3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1828800"/>
            <a:ext cx="1700784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84464" y="1828800"/>
            <a:ext cx="64008" cy="1828800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4" y="1965960"/>
            <a:ext cx="1380744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>
                <a:solidFill>
                  <a:srgbClr val="121F30"/>
                </a:solidFill>
                <a:latin typeface="Aptos"/>
              </a:rPr>
              <a:t>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2359152"/>
            <a:ext cx="1380744" cy="12070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Persist order and 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2468880"/>
            <a:ext cx="22860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2000" b="1">
                <a:solidFill>
                  <a:srgbClr val="1FB4A3"/>
                </a:solidFill>
                <a:latin typeface="Apto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0" y="1828800"/>
            <a:ext cx="1700784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41280" y="1828800"/>
            <a:ext cx="64008" cy="1828800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60" y="1965960"/>
            <a:ext cx="1380744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>
                <a:solidFill>
                  <a:srgbClr val="121F30"/>
                </a:solidFill>
                <a:latin typeface="Aptos"/>
              </a:rPr>
              <a:t>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2359152"/>
            <a:ext cx="1380744" cy="120700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23303D"/>
                </a:solidFill>
                <a:latin typeface="Aptos"/>
              </a:rPr>
              <a:t>Order ID +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343400"/>
            <a:ext cx="10515600" cy="5486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0">
                <a:solidFill>
                  <a:srgbClr val="23303D"/>
                </a:solidFill>
                <a:latin typeface="Aptos"/>
              </a:rPr>
              <a:t>Separation of concerns: the UI presents information, services enforce business rules, repositories run SQL, and MySQL holds persisted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166360"/>
            <a:ext cx="10424160" cy="4114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>
                <a:solidFill>
                  <a:srgbClr val="697885"/>
                </a:solidFill>
                <a:latin typeface="Aptos"/>
              </a:rPr>
              <a:t>Example response: { "orderId": 1042, "status": "PLACED", "total": 565.00 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Testing plan &amp; acceptance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64008" cy="1170432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325880"/>
            <a:ext cx="489204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Bill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719072"/>
            <a:ext cx="4892040" cy="5486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Subtotal, tax, delivery and rounding match expected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64008" cy="1170432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25880"/>
            <a:ext cx="489204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Input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19072"/>
            <a:ext cx="4892040" cy="5486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Reject empty cart, invalid quantity and missing address.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70048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670048"/>
            <a:ext cx="64008" cy="1170432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807208"/>
            <a:ext cx="489204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Menu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200400"/>
            <a:ext cx="4892040" cy="5486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GET returns JSON and filters correctly.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70048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670048"/>
            <a:ext cx="64008" cy="1170432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807208"/>
            <a:ext cx="489204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Order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00400"/>
            <a:ext cx="4892040" cy="5486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POST persists order and returns 201 + generated ID.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51376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151376"/>
            <a:ext cx="64008" cy="1170432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288536"/>
            <a:ext cx="489204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Tracking/status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681728"/>
            <a:ext cx="4892040" cy="5486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GET reads status; PUT updates valid transition.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151376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151376"/>
            <a:ext cx="64008" cy="1170432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288536"/>
            <a:ext cx="4892040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>
                <a:solidFill>
                  <a:srgbClr val="121F30"/>
                </a:solidFill>
                <a:latin typeface="Aptos"/>
              </a:rPr>
              <a:t>Docker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681728"/>
            <a:ext cx="4892040" cy="5486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App connects to MySQL and data persists across restart.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97880"/>
            <a:ext cx="1051560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>
                <a:solidFill>
                  <a:srgbClr val="697885"/>
                </a:solidFill>
                <a:latin typeface="Aptos"/>
              </a:rPr>
              <a:t>For each test, record input, expected result, actual result and pass/fail.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Final demonstration | 3-minute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1508760" cy="292608"/>
          </a:xfrm>
          <a:prstGeom prst="round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156716"/>
            <a:ext cx="1453895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1. BROWSE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161288"/>
            <a:ext cx="8869680" cy="2926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Open the menu; show images, category filters and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38528"/>
            <a:ext cx="1508760" cy="292608"/>
          </a:xfrm>
          <a:prstGeom prst="round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52244"/>
            <a:ext cx="1453895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2. ADD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56816"/>
            <a:ext cx="8869680" cy="2926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Add two items; change quantity and show subtotal.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34056"/>
            <a:ext cx="1508760" cy="292608"/>
          </a:xfrm>
          <a:prstGeom prst="round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747772"/>
            <a:ext cx="1453895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3. CHECKOUT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752344"/>
            <a:ext cx="8869680" cy="2926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Enter customer/address and submit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9584"/>
            <a:ext cx="1508760" cy="292608"/>
          </a:xfrm>
          <a:prstGeom prst="round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543300"/>
            <a:ext cx="1453895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4. BILL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547872"/>
            <a:ext cx="8869680" cy="2926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Explain subtotal + tax + delivery = grand total.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25112"/>
            <a:ext cx="1508760" cy="292608"/>
          </a:xfrm>
          <a:prstGeom prst="round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338828"/>
            <a:ext cx="1453895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5.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343400"/>
            <a:ext cx="8869680" cy="2926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Use order ID to fetch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1508760" cy="292608"/>
          </a:xfrm>
          <a:prstGeom prst="round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5134355"/>
            <a:ext cx="1453895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6.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138927"/>
            <a:ext cx="8869680" cy="2926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Change status with PUT and refresh to verify persistence.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80760"/>
            <a:ext cx="1051560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>
                <a:solidFill>
                  <a:srgbClr val="697885"/>
                </a:solidFill>
                <a:latin typeface="Aptos"/>
              </a:rPr>
              <a:t>Before presenting: start Docker Compose and prepare a sample order.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>
                <a:solidFill>
                  <a:srgbClr val="121F30"/>
                </a:solidFill>
                <a:latin typeface="Aptos"/>
              </a:rPr>
              <a:t>Design decisions, 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8308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>
                <a:solidFill>
                  <a:srgbClr val="697885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800" b="1">
                <a:solidFill>
                  <a:srgbClr val="697885"/>
                </a:solidFill>
                <a:latin typeface="Aptos"/>
              </a:rPr>
              <a:t>CRAVECART  |  FOOD DELIVERY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64008" cy="141732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371600"/>
            <a:ext cx="31546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CURRENT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764792"/>
            <a:ext cx="3154679" cy="7955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College demonstration; simple checkout and status tracking; no real payment gateway.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23444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234440"/>
            <a:ext cx="64008" cy="1417320"/>
          </a:xfrm>
          <a:prstGeom prst="rect">
            <a:avLst/>
          </a:prstGeom>
          <a:solidFill>
            <a:srgbClr val="F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71600"/>
            <a:ext cx="31546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ENGINEERING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764792"/>
            <a:ext cx="3154679" cy="7955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Recalculate prices server-side; parameterize SQL; externalize deployment secrets.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23444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234440"/>
            <a:ext cx="64008" cy="1417320"/>
          </a:xfrm>
          <a:prstGeom prst="rect">
            <a:avLst/>
          </a:prstGeom>
          <a:solidFill>
            <a:srgbClr val="41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1371600"/>
            <a:ext cx="3154679" cy="329184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>
                <a:solidFill>
                  <a:srgbClr val="121F30"/>
                </a:solidFill>
                <a:latin typeface="Aptos"/>
              </a:rPr>
              <a:t>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1764792"/>
            <a:ext cx="3154679" cy="7955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>
                <a:solidFill>
                  <a:srgbClr val="23303D"/>
                </a:solidFill>
                <a:latin typeface="Aptos"/>
              </a:rPr>
              <a:t>Authentication, admin dashboard, payment integration, delivery assignment and notifications.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00400"/>
            <a:ext cx="10515600" cy="36576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900" b="1">
                <a:solidFill>
                  <a:srgbClr val="121F30"/>
                </a:solidFill>
                <a:latin typeface="Aptos"/>
              </a:rPr>
              <a:t>Recommended improvements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10515600" cy="192024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 Add order_items to retain each ordered food, quantity and unit price.</a:t>
            </a:r>
          </a:p>
          <a:p>
            <a:pPr>
              <a:spcAft>
                <a:spcPts val="10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 Use BigDecimal for money and consistent tax rounding.</a:t>
            </a:r>
          </a:p>
          <a:p>
            <a:pPr>
              <a:spcAft>
                <a:spcPts val="10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 Test transactions and invalid order-status changes.</a:t>
            </a:r>
          </a:p>
          <a:p>
            <a:pPr>
              <a:spcAft>
                <a:spcPts val="10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 Improve accessibility, alt text, responsive layout and error states.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B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601200" cy="7315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96012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400" b="1">
                <a:solidFill>
                  <a:srgbClr val="1FB4A3"/>
                </a:solidFill>
                <a:latin typeface="Apto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9875520" cy="9144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800" b="0">
                <a:solidFill>
                  <a:srgbClr val="CFDEE6"/>
                </a:solidFill>
                <a:latin typeface="Aptos"/>
              </a:rPr>
              <a:t>CraveCart combines Java OOP, collections, REST APIs, JDBC/SQL and Docker in one end-to-end ordering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66360"/>
            <a:ext cx="100584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>
                <a:solidFill>
                  <a:srgbClr val="FFA05A"/>
                </a:solidFill>
                <a:latin typeface="Aptos"/>
              </a:rPr>
              <a:t>MEMBER 1  •  MEMBER 2  •  MEMBER 3  •  MEMBER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900" b="1">
                <a:solidFill>
                  <a:srgbClr val="1FB4A3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CraveCart — Food Delivery Management System</dc:title>
  <dc:subject>Detailed college project presentation with code examples for all four members</dc:subject>
  <dc:creator>CraveCart Project Team</dc:creator>
  <cp:keywords>Java, Spring Boot, JDBC, MySQL, REST API, Docker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